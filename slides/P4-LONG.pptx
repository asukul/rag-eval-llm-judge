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§1 Introduction — the which-judge problem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§2 Related work — 2025 inter-LLM-judge cluster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§3 Methodology — corpus, 9 judges, rubric, pipeline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§4 Within-corpus results — metrics, calibration tiers, κ matrix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§5 Findings — C1, C2, C3, C4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§6 Mechanism — joint distribution R²=93%, mediation, tokenizer refutation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§7 External validation — NIST TREC RAG 2024 + BEIR scifact + coverage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§8 Limitations · §9 Reproducibility · §10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Related work — 2025 inter-LLM-judge agreement cluster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1556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274320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Families covered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Open-weight as 1st-class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κ metric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UMBRELA [2024]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 (deployed)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%agreement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Balog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Farzi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Thakur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(GPT-4o, Llama)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unweighted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Han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judge↔human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controls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 (Qwen × Gemma)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qw-Cohen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GAP: no published paper, to our knowledge, reports a multi-family pairwise κ matrix that includes BOTH within-family controls AND open-weight peers as first-class judges at ≥ 500 quadratic-weighted ordinal observations. P4 closes that gap with 5 families × 4 controls × 9 judges × 570 pairs (within) + 537 pairs (NIST external).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Corpus and query set — Iowa State University DSpace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ISU DSpace: 97,441 full-text PDFs → 1.03M chunks (≤500 words, 100-word overlap)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Embedding: Google Vertex text-embedding-005 in Qdrant 1.13 HNSW (M=16, ef_construct=100, cosine)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Query set: REFINE-synthesized 57 queries [Sukul, forthcoming]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Intents: factoid / methodological / comparative / author-style — balanced across 5 intents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Coverage: 12:11:12:11:11 across 20 topic clusters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Top-10 retrieval per query → 570 (query, document) pairs scored by all 9 judges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Score variance is purely judge-level — same documents, same order, no retrieval randomness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Rubric — bounded 0-3 ordinal scale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297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 trigger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Irrelevant — document does not address the query at 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 mismatch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Topically related — mentions the topic but does not answer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Background context only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Partially answers — provides some of what the query asks 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Direct mention but incomplete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Fully answers — directly answers the query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Specific, complete information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Calibrated at prompt time with FIVE worked examples drawn from a held-out seed set. Documents truncated to 1,500 chars to control verbosity bias [Saito 2023]. Quadratic weighting on disagreements: a 0↔3 disagreement counts 9× a 0↔1 disagreement — captures the ordinal structure that simple percent-agreement 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Multi-judge pipeline — ThreadPool fan-out vs standard single-judge</a:t>
            </a:r>
          </a:p>
        </p:txBody>
      </p:sp>
      <p:pic>
        <p:nvPicPr>
          <p:cNvPr id="3" name="Picture 2" descr="diagram_4_norm_vs_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2272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Three calibration tiers — under None=0 vs valid-only accounting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  <a:gridCol w="49377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(None=0)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(valid)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 (valid-only)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Transitional → strict-mid (revised)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 (revised, was outlier)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STRICT-OUTLIER tier dissolves under valid-only accounting — Gemini judges' apparent strictness was a missing-data artifact (Gemini 3.1 Prev: 68.4% None rate; 2.5 Pro: 47.9%). Both open-weight judges (mean 1.11-1.18) calibrate with strict-mid commercial models (GPT-4o, Opus 4.7) — non-obvious given the training-compute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C2: Within-family agreement is BOUNDED by the cross-family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058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 cross-family ceiling (0.79)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Anthropic (Opus ↔ Sonnet)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OpenAI (GPT-5.5 ↔ GPT-4o)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Google-commercial (Gemini 3.1 ↔ 2.5)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Cross-organization Open-weight (Qwen ↔ Gemma 4)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MATRIX MAX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No within-family pair DOMINATES — at odds with self-preference findings on open-ended generation [Panickssery 2024]. Our companion 4-way extraction study reports within-family agreement ~2× cross-family on open-vocabulary tasks; the inversion under bounded ordinal judging suggests SELF-PREFERENCE IS MEDIATED BY OUTPUT-SPACE BOUNDEDNESS, not provider lineage. In a 4-class output space, the dominant signal is calibration philosophy, which crosses provider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C4: Open-source toolkit + community disclosure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eval_llm_judge.py — multi-judge mode, ThreadPool fan-out, p4-frontier + p4-supplement-openweight presets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validate_against_trec.py — multi-corpus external-validation harness (TREC RAG 2024, BEIR scifact, TREC-COVID)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fetch_msmarco_passages.py — HF-streaming MS MARCO v2.1 passage extractor (peak disk ~400 MB, 38 min wall)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All 9 within-corpus per-judge JSONs (5,130 records) + 9 external-validation JSONs (4,833 records)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Cross-run merge harness with retrieval-determinism verification + κ matrix regen scripts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Disclosure norm: nDCG@10 = X.XX via [family]/[model]/[reasoning], N pairs, DATE — κ heatmap with every nDCG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17/34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18/34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highest-κ pairs (joint distribution: tight diagonal)</a:t>
            </a:r>
          </a:p>
        </p:txBody>
      </p:sp>
      <p:pic>
        <p:nvPicPr>
          <p:cNvPr id="3" name="Picture 2" descr="judge_pair_confusion_top4_high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85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Top-4 κ pairs (Qwen↔Gemma 4 = 0.797, Sonnet↔GPT-5.5 = 0.789, GPT-5.5↔Gem 2.5 = 0.776, Gemma 4↔GPT-4o = 0.771). Each 4×4 confusion matrix shows P(judge A score = i, judge B score = j); diagonal concentration means both judges agree on which score each document deserves. The dispersion (quadratic-weighted disagreement distance) of these matrices is the dominant predictor of pairwise 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19/34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lowest-κ pairs (joint distribution: off-diagonal dispersion)</a:t>
            </a:r>
          </a:p>
        </p:txBody>
      </p:sp>
      <p:pic>
        <p:nvPicPr>
          <p:cNvPr id="3" name="Picture 2" descr="judge_pair_confusion_bottom4_lo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9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Bottom-4 κ pairs (Sonnet↔Gem 3.1 Prev = 0.560, Gem 3.1 Prev↔DSV4 Pro = 0.573, Sonnet↔Gemma 4 = 0.620, GPT-5.5↔GPT-4o = 0.632). Off-diagonal mass means the judges disagree by 1-2 score levels on the same documents — tier-crossing pairs (reasoning-generous vs strict-mid) systematically lower in κ. Together TOP and BOTTOM rows: dispersion + effective rank → R² = 93% of pairwise κ variance 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20/34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(A: cumulative R²; B: incremental ΔR²)</a:t>
            </a:r>
          </a:p>
        </p:txBody>
      </p:sp>
      <p:pic>
        <p:nvPicPr>
          <p:cNvPr id="3" name="Picture 2" descr="judge_kappa_regression_panels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09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A: nested OLS models — M1 (κ ~ KL) reaches R²=0.326; adding reasoning-mode (M2: 0.342), provider (M3: 0.354), model class (M4: 0.384) yields only marginal improvements. Panel B: KL alone contributes ΔR² = 0.326; the three structural predictors add only 0.015, 0.013, 0.030 — marginal-distribution similarity is the dominant explainable factor among single-feature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21/34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(C: M4 coefficients; D: predicted vs actual)</a:t>
            </a:r>
          </a:p>
        </p:txBody>
      </p:sp>
      <p:pic>
        <p:nvPicPr>
          <p:cNvPr id="3" name="Picture 2" descr="judge_kappa_regression_panels_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C: full-model coefficients with 95% CI — KL is the only significant predictor (β=-0.130, p&lt;0.001); same_reasoning, same_provider, same_class all p &gt; 0.18 (gray = non-significant). Panel D: M4-predicted κ vs actual κ — points cluster near the y=x line; full R² jumps to 0.93 when joint-distribution features (dispersion + effective rank) replace KL as input — see companion long version §6.2.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22/34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mechanism — shared-tokenizer hypothesis REFUTED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28600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Tokenizer Jaccard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 Opus ↔ Sonnet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↔ Gemini 2.5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↔ 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≈ 0.99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lowest in-family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↔ Gemma 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0.066 (lowest in slate!)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0.80 (matrix max!)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REFUTES the hypothesis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If shared tokenizer drove κ, Qwen↔Gemma 4 should be at the BOTTOM of the κ ranking — instead they are at the TOP. The convergence of Qwen and Gemma 4 happens at the DECISION-MAKING LAYER, not the input-encoding layer. Pairwise κ is not driven by shared input vocabulary; the calibration cluster effect comes from how each judge maps inputs to scores after encoding.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23/34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validation: NIST TREC RAG 2024 — 537 stratified-balanced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Sample: 537 pairs from official 20,283-pair NIST qrels (random.seed(42))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Stratified-balanced: 135 / 134 / 134 / 134 across labels 0/1/2/3 — uniform over the 4 ordinal classes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Coverage: all 86 unique queries; 537 unique passages from MS MARCO v2.1 segmented corpus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Passage extraction: HF-stream from drexalt/msmarco-2.1-segmented (60 shards, ~400 MB peak disk, 38 min wall)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Cost: ~USD 35, ~7.5 h wall (vs IRB human study estimate $1,500-3,000, 6-12 weeks)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BEIR scifact also run (300 pairs, all-positive qrels — κ undefined; reports precision instead = 65.7% ensemble)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24/34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25/34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pairs, 9 judges)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0.2743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0.3447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(frontier-7 ensemble for ref)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passages)
• BEIR scifact: precision 65.7%
  (κ undefined — all-positive qrels)
• TREC-COVID: 9-judge κ = 0.3447
  (biomedical scientific)
Open-weight broadens coverage
(Qwen + Gemma both 100%)
but lowers ensemble κ more on
biomedical (-0.10) than on web
(-0.025 on TREC RAG 2024).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26/34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Baselines and bias diagnostics (P3 additions)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4A86"/>
                </a:solidFill>
                <a:latin typeface="Calibri"/>
              </a:rPr>
              <a:t>UMBRELA single-judge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852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(Upadhyay et al. 2024) prompt + GPT-4o on the same 537 pairs:
    kappa vs human = 0.4265, n_valid = 537/537
Comparison (same 537 pairs, same human qrels):
  - UMBRELA baseline:                 0.4265
  - Our prompt + GPT-4o:              0.4065
  - Our prompt + Sonnet 4.6 (best):   0.5123
  - Our 9-judge ensemble:             0.4941
  - Our 7-judge frontier ensemble:    0.5187
Both ensembles + best single judge &gt;&gt; UMBRELA single by 0.07-0.09 kappa.
The contribution is the SLATE + ENSEMBLE, not the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4A86"/>
                </a:solidFill>
                <a:latin typeface="Calibri"/>
              </a:rPr>
              <a:t>Bias diagnostics (free recompute)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Family conditional-mean matrix (5x5):
  Anthropic 2.07,  OpenAI 1.93,  Google 2.01
  DeepSeek 2.45,   Open-weight 1.62
  -&gt; calibration drift, NOT self-preference
     (no family's diagonal dominates its row)
Per-judge marginal score distributions:
  -&gt; visualizes 3-cluster structure directly
Length-stratified kappa: SKIPPED
  (text_preview uniformly truncated at 240
   chars in shipped JSONs; defer to re-extract)
Position bias: not directly applicable
  (single-document scoring, not pairwise)</a:t>
            </a:r>
          </a:p>
        </p:txBody>
      </p:sp>
      <p:pic>
        <p:nvPicPr>
          <p:cNvPr id="7" name="Picture 6" descr="bias_diagnos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34840"/>
            <a:ext cx="113385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27/34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28/34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Comparison to Thakur 2025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Thakur et al. 2025: GPT-4o single judge, κ = 0.60 on 537-pair "support evaluation" subset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Our GPT-4o on our 537-pair stratified-balanced sample: κ = 0.41 (gap of 0.19)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Our 9-judge ensemble: κ = 0.49 — partially closes the gap (+0.08 over our GPT-4o)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Likely explanations for the gap (in decreasing impact order):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Sample selection — ours stratified-balanced (uniform), theirs natural-distribution-proportional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Prompt template — exact Thakur prompt not specified in their paper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Qrels version — possible UMBRELA-augmented vs official NIST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Judge model version — we pin gpt-4o-2024-08-06; theirs unspecified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Direct apples-to-apples replication awaits receipt of their curated 537-pair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29/34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corpus (ISU DSpace) — open-weight κ ceiling most likely to drift across domains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query set (REFINE 57 queries) — κ structure could depend on intent distribution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Stratified sample mismatch with Thakur 2025 — ours balanced, theirs natural-proportional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Gemini coverage failures (17-24% on TREC RAG 2024) — selection bias on the small valid subset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DSV4 Flash dropped — OpenRouter free-tier 429 throttling; we have 1 DeepSeek judge, no within-DS pair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Missing-data accounting — None=0 in aggregates; valid-only means re-cluster Gemini judges as strict-mid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Mediation analysis assumes linear additivity — non-linear interactions (provider × reasoning) untested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No within-corpus human-rater study — §7 NIST validation substitutes; reviewers preferring institution-specific human anchor will not find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30/34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Reproducibility — single-command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Within-corpus replication (~$18, ~5.5 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p4-supplement-openweight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External-validation replication (~$35, ~7.5 h):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p4-frontier --max-pairs 537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p4-supplement-openweight --max-pairs 537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--analyze trec-rag-2024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Model versions pinned 2026-04-25: claude-opus-4-7, claude-sonnet-4-6, gpt-5.5, gpt-4o-2024-08-06, gemini-3.1-pro-preview, gemini-2.5-pro-2025-06-17, deepseek-v4-pro, qwen3.6-plus, gemma-4-26b-a4b-it. Target SIGIR Artifact Badging (Functional / Reusable).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31/34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Open questions for follow-up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(1) Cross-organization Qwen ↔ Gemma 4 convergence (κ=0.80) lacks complete mechanistic explanation — shared OSS research community? distillation lineage? compute regime? bounded-output prior?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(2) κ structure under non-bounded output rubrics (graded relevance with longer scales, free-text rationales) may invert the within-family bounded-ordinal finding (C2)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(3) Non-linear interactions in §6 mediation analysis (provider × reasoning) untested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(4) Apples-to-apples replication of Thakur 2025's 537-pair subset pending receipt of their curated sample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(5) TREC-COVID and LLMJudge benchmark validations deferred — TOIS journal-version extension</a:t>
            </a:r>
          </a:p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(6) Cross-corpus mean κ on 4+ public benchmarks (vs 1 in current draft) for stronger generalization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32/34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33/34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34/34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