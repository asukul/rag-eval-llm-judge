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E4A86"/>
                </a:solidFill>
                <a:latin typeface="Calibri"/>
              </a:rPr>
              <a:t>Cross-Family LLM-Judge Agreement
for Institutional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707070"/>
                </a:solidFill>
                <a:latin typeface="Calibri"/>
              </a:rPr>
              <a:t>A 5-Family, 9-Judge Ablation with Mechanism + External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</a:rPr>
              <a:t>Adisak Sukul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707070"/>
                </a:solidFill>
                <a:latin typeface="Calibri"/>
              </a:rPr>
              <a:t>Iowa State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707070"/>
                </a:solidFill>
                <a:latin typeface="Calibri"/>
              </a:rPr>
              <a:t>asukul@iastate.edu  ·  2026-04-28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1/32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2000" b="1">
                <a:solidFill>
                  <a:srgbClr val="1A1A1A"/>
                </a:solidFill>
                <a:latin typeface="Calibri"/>
              </a:rPr>
              <a:t>• §1 Introduction — the which-judge problem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1A1A1A"/>
                </a:solidFill>
                <a:latin typeface="Calibri"/>
              </a:rPr>
              <a:t>• §2 Related work — 2025 inter-LLM-judge cluster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1A1A1A"/>
                </a:solidFill>
                <a:latin typeface="Calibri"/>
              </a:rPr>
              <a:t>• §3 Methodology — corpus, 9 judges, rubric, pipeline</a:t>
            </a:r>
          </a:p>
          <a:p>
            <a:pPr>
              <a:lnSpc>
                <a:spcPct val="140000"/>
              </a:lnSpc>
            </a:pPr>
            <a:r>
              <a:rPr sz="2000" b="1">
                <a:solidFill>
                  <a:srgbClr val="1A1A1A"/>
                </a:solidFill>
                <a:latin typeface="Calibri"/>
              </a:rPr>
              <a:t>• §4 Within-corpus results — metrics, calibration tiers, κ matrix</a:t>
            </a:r>
          </a:p>
          <a:p>
            <a:pPr>
              <a:lnSpc>
                <a:spcPct val="140000"/>
              </a:lnSpc>
            </a:pPr>
            <a:r>
              <a:rPr sz="2000" b="1">
                <a:solidFill>
                  <a:srgbClr val="1A1A1A"/>
                </a:solidFill>
                <a:latin typeface="Calibri"/>
              </a:rPr>
              <a:t>• §5 Findings — C1, C2, C3, C4</a:t>
            </a:r>
          </a:p>
          <a:p>
            <a:pPr>
              <a:lnSpc>
                <a:spcPct val="140000"/>
              </a:lnSpc>
            </a:pPr>
            <a:r>
              <a:rPr sz="2000" b="1">
                <a:solidFill>
                  <a:srgbClr val="1A1A1A"/>
                </a:solidFill>
                <a:latin typeface="Calibri"/>
              </a:rPr>
              <a:t>• §6 Mechanism — joint distribution R²=93%, mediation, tokenizer refutation</a:t>
            </a:r>
          </a:p>
          <a:p>
            <a:pPr>
              <a:lnSpc>
                <a:spcPct val="140000"/>
              </a:lnSpc>
            </a:pPr>
            <a:r>
              <a:rPr sz="2000" b="1">
                <a:solidFill>
                  <a:srgbClr val="1A1A1A"/>
                </a:solidFill>
                <a:latin typeface="Calibri"/>
              </a:rPr>
              <a:t>• §7 External validation — NIST TREC RAG 2024 + BEIR scifact + coverage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1A1A1A"/>
                </a:solidFill>
                <a:latin typeface="Calibri"/>
              </a:rPr>
              <a:t>• §8 Limitations · §9 Reproducibility · §10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2/32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The which-judge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07070"/>
                </a:solidFill>
                <a:latin typeface="Calibri"/>
              </a:rPr>
              <a:t>RAG over institutional corpora has no gold relevance set; LLM-as-Judge fills the gap — but which judge?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No gold qrels for institutional corpora — TREC-style ground truth needs hundreds of expert hours per topic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Generic IR benchmarks (BEIR, MS-MARCO) don't transfer — web-style queries on web-style corpora</a:t>
            </a:r>
          </a:p>
          <a:p>
            <a:pPr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LLM-as-Judge surfaces a new question: WHICH judge? Sonnet vs GPT-5 vs Gemini vs Qwen vs Gemma?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Prior work compares within ONE provider family, or two-family pairs without ordinal weighting, or excludes open-weight peers entirely</a:t>
            </a:r>
          </a:p>
          <a:p>
            <a:pPr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Open-weight judges are the default for sovereign-cloud and privacy-conservative institutions — excluding them silently endorses commercial-only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3/32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Four contribution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07070"/>
                </a:solidFill>
                <a:latin typeface="Calibri"/>
              </a:rPr>
              <a:t>First multi-family pairwise κ matrix with within-family controls AND open-weight as first-class judges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1A1A1A"/>
                </a:solidFill>
                <a:latin typeface="Calibri"/>
              </a:rPr>
              <a:t>• C1: Cross-family reasoning judges converge at κ ≥ 0.75 — well above the 0.4-0.6 typical baselines</a:t>
            </a:r>
          </a:p>
          <a:p>
            <a:pPr>
              <a:lnSpc>
                <a:spcPct val="125000"/>
              </a:lnSpc>
            </a:pPr>
            <a:r>
              <a:rPr sz="1700" b="1">
                <a:solidFill>
                  <a:srgbClr val="1A1A1A"/>
                </a:solidFill>
                <a:latin typeface="Calibri"/>
              </a:rPr>
              <a:t>• C2: Within-family agreement is BOUNDED by the cross-family ceiling (no within-family pair dominates)</a:t>
            </a:r>
          </a:p>
          <a:p>
            <a:pPr>
              <a:lnSpc>
                <a:spcPct val="125000"/>
              </a:lnSpc>
            </a:pPr>
            <a:r>
              <a:rPr sz="1700" b="1">
                <a:solidFill>
                  <a:srgbClr val="1A1A1A"/>
                </a:solidFill>
                <a:latin typeface="Calibri"/>
              </a:rPr>
              <a:t>• C3: Open-weight judges (Qwen × Gemma 4) produce the matrix-highest within-pair κ = 0.80 at ~1% of commercial cost</a:t>
            </a:r>
          </a:p>
          <a:p>
            <a:pPr>
              <a:lnSpc>
                <a:spcPct val="125000"/>
              </a:lnSpc>
            </a:pPr>
            <a:r>
              <a:rPr sz="1700" b="1">
                <a:solidFill>
                  <a:srgbClr val="1A1A1A"/>
                </a:solidFill>
                <a:latin typeface="Calibri"/>
              </a:rPr>
              <a:t>• C4: Open-source toolkit (eval_llm_judge.py, validate_against_trec.py) + community disclosure template</a:t>
            </a:r>
          </a:p>
          <a:p>
            <a:pPr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Plus: §6 mechanistic decomposition (R²=93% from joint distribution; tokenizer hypothesis refuted)</a:t>
            </a:r>
          </a:p>
          <a:p>
            <a:pPr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Plus: §7 external validation against NIST TREC RAG 2024 qrels (ensemble κ = 0.4941 on 537 stratified-balanced pairs)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4/32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Related work — 2025 inter-LLM-judge agreement cluster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1556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1828800"/>
                <a:gridCol w="2743200"/>
                <a:gridCol w="22860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Families covered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Within-family pairs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Open-weight as 1st-class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κ metric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UMBRELA [2024]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 (deployed)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%agreement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Balog 2025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Cohen κ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Farzi 2025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Cohen 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Thakur 2025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 (GPT-4o, Llama)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unweighted κ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Han 2025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judge↔human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Cohen 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Ours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4 controls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yes (Qwen × Gemma)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qw-Cohen κ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GAP: no published paper, to our knowledge, reports a multi-family pairwise κ matrix that includes BOTH within-family controls AND open-weight peers as first-class judges at ≥ 500 quadratic-weighted ordinal observations. P4 closes that gap with 5 families × 4 controls × 9 judges × 570 pairs (within) + 537 pairs (NIST external).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5/32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Corpus and query set — Iowa State University DSpace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ISU DSpace: 97,441 full-text PDFs → 1.03M chunks (≤500 words, 100-word overlap)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Embedding: Google Vertex text-embedding-005 in Qdrant 1.13 HNSW (M=16, ef_construct=100, cosine)</a:t>
            </a:r>
          </a:p>
          <a:p>
            <a:pPr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Query set: REFINE-synthesized 57 queries [Sukul, forthcoming]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    Intents: factoid / methodological / comparative / author-style — balanced across 5 intents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    Coverage: 12:11:12:11:11 across 20 topic clusters</a:t>
            </a:r>
          </a:p>
          <a:p>
            <a:pPr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Top-10 retrieval per query → 570 (query, document) pairs scored by all 9 judges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Score variance is purely judge-level — same documents, same order, no retrieval randomness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6/32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Judge slate: 9 judges across 5 families, 4 within-family pairs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85039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743200"/>
                <a:gridCol w="2011680"/>
                <a:gridCol w="155448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Reasoning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Route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Claude Opus 4.7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Anthropic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OpenRouter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Claude Sonnet 4.6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Anthropic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OpenRouter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GPT-5.5 (reasoning=low)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OpenAI direct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GPT-4o (chat)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OpenAI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OpenAI direct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Gemini 3.1 Pro Preview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Google-commercial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yes (thinking)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OpenRouter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Gemini 2.5 Pro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Google-commercial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yes (thinking)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OpenRouter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DeepSeek V4 Pro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DeepSeek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OpenRouter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Qwen 3.6 Plus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Open-weight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OpenRouter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Gemma 4 26B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Open-weight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OpenRouter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2120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07070"/>
                </a:solidFill>
                <a:latin typeface="Calibri"/>
              </a:rPr>
              <a:t>Within-family pairs: Anthropic (1↔2), OpenAI (3↔4), Google-commercial (5↔6), Open-weight cross-organization (8↔9). All 9 judges score the same 570 (query, document) pairs from ISU DSpace (97k full-text PDFs) — score variance is purely judge-level. Versions pinned 2026-04-25.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7/32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Rubric — bounded 0-3 ordinal scale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972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943600"/>
                <a:gridCol w="429768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Example trigger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Irrelevant — document does not address the query at all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Topic mismatch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Topically related — mentions the topic but does not answer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Background context only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Partially answers — provides some of what the query asks for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Direct mention but incomplete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Fully answers — directly answers the query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Specific, complete information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20624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Calibrated at prompt time with FIVE worked examples drawn from a held-out seed set. Documents truncated to 1,500 chars to control verbosity bias [Saito 2023]. Quadratic weighting on disagreements: a 0↔3 disagreement counts 9× a 0↔1 disagreement — captures the ordinal structure that simple percent-agreement loses.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8/32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Multi-judge pipeline — ThreadPool fan-out vs standard single-judge</a:t>
            </a:r>
          </a:p>
        </p:txBody>
      </p:sp>
      <p:pic>
        <p:nvPicPr>
          <p:cNvPr id="3" name="Picture 2" descr="diagram_4_norm_vs_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22721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9/32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Per-judge retrieval metrics — same documents, different verdicts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8229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280160"/>
                <a:gridCol w="1097280"/>
                <a:gridCol w="1097280"/>
                <a:gridCol w="9144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P@5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Sonnet 4.6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Anthropic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0.862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0.649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0.826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1.68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GPT-5.5 (low)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OpenAI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0.846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0.600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0.792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1.63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DSV4 Pro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DeepSeek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0.702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0.883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1.63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GPT-4o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OpenAI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0.803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0.361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0.575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Qwen 3.6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Open-weight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0.758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0.379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0.599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Gemma 4 26B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Open-weight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0.753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0.375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0.573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1.11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Opus 4.7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Anthropic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0.749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0.536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Gemini 2.5 Pro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Google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0.624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0.281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0.486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Gemini 3.1 Prev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Google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0.454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0.158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1206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07070"/>
                </a:solidFill>
                <a:latin typeface="Calibri"/>
              </a:rPr>
              <a:t>Same retrieved documents → nDCG@10 between 0.45 and 0.86 — a 1.9× spread driven entirely by judge selection. Two practitioners running identical retrieval code, scoring with different flagship judges, can arrive at OPPOSITE go/no-go decisions. Disclosure template (C4): "nDCG@10 = X.XX via [family]/[model]/[reasoning], N pairs, DATE".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10/32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Three calibration tiers — under None=0 vs valid-only accounting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07899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1828800"/>
                <a:gridCol w="49377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 (None=0)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 (valid)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Tier (valid-only)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Sonnet 4.6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1.68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Reasoning-generous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GPT-5.5 (low)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1.63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1.63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Reasoning-generous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DSV4 Pro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1.63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1.67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Reasoning-generous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Opus 4.7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1.26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Strict-mid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GPT-4o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Strict-mid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Qwen 3.6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1.18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1.18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Strict-mid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Gemma 4 26B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Strict-mid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Gemini 2.5 Pro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1.45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Transitional → strict-mid (revised)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Gemini 3.1 Prev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0.37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1.17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Strict-mid (revised, was outlier)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02920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07070"/>
                </a:solidFill>
                <a:latin typeface="Calibri"/>
              </a:rPr>
              <a:t>STRICT-OUTLIER tier dissolves under valid-only accounting — Gemini judges' apparent strictness was a missing-data artifact (Gemini 3.1 Prev: 68.4% None rate; 2.5 Pro: 47.9%). Both open-weight judges (mean 1.11-1.18) calibrate with strict-mid commercial models (GPT-4o, Opus 4.7) — non-obvious given the training-compute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11/32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9×9 pairwise κ matrix — every off-diagonal ≥ 0.56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07070"/>
                </a:solidFill>
                <a:latin typeface="Calibri"/>
              </a:rPr>
              <a:t>Quadratic-weighted Cohen's κ on 570 pairs · two clusters · cross-org open-weight = 0.80 (matrix-highest)</a:t>
            </a:r>
          </a:p>
        </p:txBody>
      </p:sp>
      <p:pic>
        <p:nvPicPr>
          <p:cNvPr id="4" name="Picture 3" descr="kappa_matrix_9ju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6468848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12/32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Calibration clusters — calibration philosophy &gt; provider lineage</a:t>
            </a:r>
          </a:p>
        </p:txBody>
      </p:sp>
      <p:pic>
        <p:nvPicPr>
          <p:cNvPr id="3" name="Picture 2" descr="diagram_5_calibration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72800" cy="84574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13/32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C1: Cross-family reasoning judges converge at κ ≥ 0.75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Five cross-family pairs reach substantial-or-better κ (Sonnet ↔ GPT-5.5 = 0.79, Qwen ↔ Gemma 4 = 0.80, etc.)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Well above the 0.4-0.6 typical of prior art [Rahmani 2024] and the 0.60 unweighted baseline of [Thakur 2025]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DeepSeek V4 Pro joining the cluster RULES OUT a Western-training-data common-cause explanation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Pattern replicates across three independent ablation scales (5-, 7-, 9-judge) within run-to-run noise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EXTERNAL CORROBORATION: 9-judge ensemble achieves κ = 0.49 against published NIST qrels on TREC RAG 2024 — the convergence is not specific to our institutional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14/32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C2: Within-family agreement is BOUNDED by the cross-family ceiling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058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914400"/>
                <a:gridCol w="36576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Within-family pair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κ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vs cross-family ceiling (0.79)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Anthropic (Opus ↔ Sonnet)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below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OpenAI (GPT-5.5 ↔ GPT-4o)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below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Google-commercial (Gemini 3.1 ↔ 2.5)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below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Cross-organization Open-weight (Qwen ↔ Gemma 4)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MATRIX MAX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No within-family pair DOMINATES — at odds with self-preference findings on open-ended generation [Panickssery 2024]. Our companion 4-way extraction study reports within-family agreement ~2× cross-family on open-vocabulary tasks; the inversion under bounded ordinal judging suggests SELF-PREFERENCE IS MEDIATED BY OUTPUT-SPACE BOUNDEDNESS, not provider lineage. In a 4-class output space, the dominant signal is calibration philosophy, which crosses provider 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15/32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C3: Cross-org open-weight = matrix-highest κ at ~1% of commercial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Qwen 3.6 Plus ↔ Gemma 4 26B = κ 0.80 — exceeds every commercial within-family pair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Both calibrate with strict-mid commercial models (mean 1.11-1.18), NOT with reasoning-generous (1.63-1.68)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Marginal cost ~USD 0.30 (vs ~USD 18 for the commercial 7-judge frontier)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100% coverage on TREC RAG 2024 — better than 4 of 7 frontier judges (Gemini 17-24%, DSV4 40%)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Direct policy implication: sovereign-cloud and privacy-conservative deployments are NOT condemned to lower-quality judging — the cross-org open-weight pair is the recommended low-cost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16/32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C4: Open-source toolkit + community disclosure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eval_llm_judge.py — multi-judge mode, ThreadPool fan-out, p4-frontier + p4-supplement-openweight presets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validate_against_trec.py — multi-corpus external-validation harness (TREC RAG 2024, BEIR scifact, TREC-COVID)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fetch_msmarco_passages.py — HF-streaming MS MARCO v2.1 passage extractor (peak disk ~400 MB, 38 min wall)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All 9 within-corpus per-judge JSONs (5,130 records) + 9 external-validation JSONs (4,833 records)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Cross-run merge harness with retrieval-determinism verification + κ matrix regen scripts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Disclosure norm: nDCG@10 = X.XX via [family]/[model]/[reasoning], N pairs, DATE — κ heatmap with every nDCG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17/32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Mechanism: joint-distribution structure explains R² = 93% of κ variance</a:t>
            </a:r>
          </a:p>
        </p:txBody>
      </p:sp>
      <p:pic>
        <p:nvPicPr>
          <p:cNvPr id="3" name="Picture 2" descr="judge_calibration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37984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07070"/>
                </a:solidFill>
                <a:latin typeface="Calibri"/>
              </a:rPr>
              <a:t>Marginal KL = coarse 33% proxy · joint-distribution dispersion + effective rank = R²=93% · structural factors fully mediated · shared-tokenizer hypothesis REFUTED (Qwen↔Gemma Jaccard=0.066, lowest, yet κ=0.80 highest).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18/32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§6 — 4 highest-κ pairs (joint distribution: tight diagonal)</a:t>
            </a:r>
          </a:p>
        </p:txBody>
      </p:sp>
      <p:pic>
        <p:nvPicPr>
          <p:cNvPr id="3" name="Picture 2" descr="judge_pair_confusion_top4_high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10058400" cy="25853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29768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Top-4 κ pairs (Qwen↔Gemma 4 = 0.797, Sonnet↔GPT-5.5 = 0.789, GPT-5.5↔Gem 2.5 = 0.776, Gemma 4↔GPT-4o = 0.771). Each 4×4 confusion matrix shows P(judge A score = i, judge B score = j); diagonal concentration means both judges agree on which score each document deserves. The dispersion (quadratic-weighted disagreement distance) of these matrices is the dominant predictor of pairwise κ.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19/32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§6 — 4 lowest-κ pairs (joint distribution: off-diagonal dispersion)</a:t>
            </a:r>
          </a:p>
        </p:txBody>
      </p:sp>
      <p:pic>
        <p:nvPicPr>
          <p:cNvPr id="3" name="Picture 2" descr="judge_pair_confusion_bottom4_low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10058400" cy="25900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29768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Bottom-4 κ pairs (Sonnet↔Gem 3.1 Prev = 0.560, Gem 3.1 Prev↔DSV4 Pro = 0.573, Sonnet↔Gemma 4 = 0.620, GPT-5.5↔GPT-4o = 0.632). Off-diagonal mass means the judges disagree by 1-2 score levels on the same documents — tier-crossing pairs (reasoning-generous vs strict-mid) systematically lower in κ. Together TOP and BOTTOM rows: dispersion + effective rank → R² = 93% of pairwise κ variance explained.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20/32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§6 — Regression decomposition (A: cumulative R²; B: incremental ΔR²)</a:t>
            </a:r>
          </a:p>
        </p:txBody>
      </p:sp>
      <p:pic>
        <p:nvPicPr>
          <p:cNvPr id="3" name="Picture 2" descr="judge_kappa_regression_panels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601200" cy="34092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21208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Panel A: nested OLS models — M1 (κ ~ KL) reaches R²=0.326; adding reasoning-mode (M2: 0.342), provider (M3: 0.354), model class (M4: 0.384) yields only marginal improvements. Panel B: KL alone contributes ΔR² = 0.326; the three structural predictors add only 0.015, 0.013, 0.030 — marginal-distribution similarity is the dominant explainable factor among single-feature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21/32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§6 — Regression decomposition (C: M4 coefficients; D: predicted vs actual)</a:t>
            </a:r>
          </a:p>
        </p:txBody>
      </p:sp>
      <p:pic>
        <p:nvPicPr>
          <p:cNvPr id="3" name="Picture 2" descr="judge_kappa_regression_panels_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601200" cy="3414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21208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Panel C: full-model coefficients with 95% CI — KL is the only significant predictor (β=-0.130, p&lt;0.001); same_reasoning, same_provider, same_class all p &gt; 0.18 (gray = non-significant). Panel D: M4-predicted κ vs actual κ — points cluster near the y=x line; full R² jumps to 0.93 when joint-distribution features (dispersion + effective rank) replace KL as input — see companion long version §6.2.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22/32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§6 mechanism — shared-tokenizer hypothesis REFUTED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07899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60320"/>
                <a:gridCol w="2286000"/>
                <a:gridCol w="27432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Pair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Tokenizer Jaccard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κ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Anthropic Opus ↔ Sonnet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Same family, mid 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Gemini 3.1 ↔ Gemini 2.5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0.993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Same family, mid κ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GPT-5.5 ↔ GPT-4o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≈ 0.99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Same family, lowest in-family 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Qwen 3.6 ↔ Gemma 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0.066 (lowest in slate!)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0.80 (matrix max!)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REFUTES the hypothesis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02336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If shared tokenizer drove κ, Qwen↔Gemma 4 should be at the BOTTOM of the κ ranking — instead they are at the TOP. The convergence of Qwen and Gemma 4 happens at the DECISION-MAKING LAYER, not the input-encoding layer. Pairwise κ is not driven by shared input vocabulary; the calibration cluster effect comes from how each judge maps inputs to scores after encoding.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23/32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External validation: NIST TREC RAG 2024 — 537 stratified-balanced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Sample: 537 pairs from official 20,283-pair NIST qrels (random.seed(42))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Stratified-balanced: 135 / 134 / 134 / 134 across labels 0/1/2/3 — uniform over the 4 ordinal classes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Coverage: all 86 unique queries; 537 unique passages from MS MARCO v2.1 segmented corpus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Passage extraction: HF-stream from drexalt/msmarco-2.1-segmented (60 shards, ~400 MB peak disk, 38 min wall)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Cost: ~USD 35, ~7.5 h wall (vs IRB human study estimate $1,500-3,000, 6-12 weeks)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BEIR scifact also run (300 pairs, all-positive qrels — κ undefined; reports precision instead = 63.7% ensemble)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24/32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External validation results — TREC RAG 2024 9-judge κ vs NIST qrels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713232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657600"/>
                <a:gridCol w="109728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κ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valid/537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Gemini 2.5 Pro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0.5513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92 (small-n)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Claude Sonnet 4.6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0.5123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Claude Opus 4.7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0.4792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GPT-5.5 (reasoning=low)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0.4789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DeepSeek V4 Pro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0.4705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Qwen 3.6 Plus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0.4141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Gemini 3.1 Pro Preview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0.4092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GPT-4o (chat)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0.4065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Gemma 4 26B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0.3958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9-judge ensemble median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0.4941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7-judge frontier-only median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0.5187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0" y="1280160"/>
            <a:ext cx="3657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Headlines
9-judge ensemble κ = 0.4941
→ moderate, near-substantial
5 of 9 judges hit κ ≥ 0.47
All 9 judges κ &gt; 0.39 — none at chance
Ensemble outperforms 7 of 9 single judges
Adding open-weight broadens coverage,
slightly lowers κ (robustness/headline tradeoff)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25/32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Coverage divergence — content-domain reliability axis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8686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7432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TREC RAG 2024 (n=537)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BEIR scifact (n=300)</a:t>
                      </a:r>
                    </a:p>
                  </a:txBody>
                  <a:tcPr marL="73152" marR="73152" marT="36576" marB="36576">
                    <a:solidFill>
                      <a:srgbClr val="0E4A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GPT-5.5 (reasoning=low)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GPT-4o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Claude Opus 4.7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Claude Sonnet 4.6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99.7%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Qwen 3.6 Plus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Gemma 4 26B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DeepSeek V4 Pro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39%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Gemini 3.1 Pro Preview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Gemini 2.5 Pro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ALWAYS-WORKS 6-judge subset (≥95% on both): Anthropic + OpenAI + Qwen + Gemma. The 2 cheapest open-weight judges make this subset. Gemini fails on TREC RAG (web content) more than on BEIR (scientific abstracts) — reliability is content-domain dependent.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26/32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Comparison to Thakur 2025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1A1A1A"/>
                </a:solidFill>
                <a:latin typeface="Calibri"/>
              </a:rPr>
              <a:t>• Thakur et al. 2025: GPT-4o single judge, κ = 0.60 on 537-pair "support evaluation" subset</a:t>
            </a:r>
          </a:p>
          <a:p>
            <a:pPr>
              <a:lnSpc>
                <a:spcPct val="130000"/>
              </a:lnSpc>
            </a:pPr>
            <a:r>
              <a:rPr sz="1600" b="1">
                <a:solidFill>
                  <a:srgbClr val="1A1A1A"/>
                </a:solidFill>
                <a:latin typeface="Calibri"/>
              </a:rPr>
              <a:t>• Our GPT-4o on our 537-pair stratified-balanced sample: κ = 0.41 (gap of 0.19)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• Our 9-judge ensemble: κ = 0.49 — partially closes the gap (+0.08 over our GPT-4o)</a:t>
            </a:r>
          </a:p>
          <a:p>
            <a:pPr>
              <a:lnSpc>
                <a:spcPct val="130000"/>
              </a:lnSpc>
            </a:pPr>
            <a:r>
              <a:rPr sz="1600" b="1">
                <a:solidFill>
                  <a:srgbClr val="1A1A1A"/>
                </a:solidFill>
                <a:latin typeface="Calibri"/>
              </a:rPr>
              <a:t>• Likely explanations for the gap (in decreasing impact order):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•     Sample selection — ours stratified-balanced (uniform), theirs natural-distribution-proportional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•     Prompt template — exact Thakur prompt not specified in their paper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•     Qrels version — possible UMBRELA-augmented vs official NIST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•     Judge model version — we pin gpt-4o-2024-08-06; theirs unspecified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• Direct apples-to-apples replication awaits receipt of their curated 537-pair subset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27/32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• Single internal corpus (ISU DSpace) — open-weight κ ceiling most likely to drift across domains</a:t>
            </a:r>
          </a:p>
          <a:p>
            <a:pPr>
              <a:lnSpc>
                <a:spcPct val="125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• Single internal query set (REFINE 57 queries) — κ structure could depend on intent distribution</a:t>
            </a:r>
          </a:p>
          <a:p>
            <a:pPr>
              <a:lnSpc>
                <a:spcPct val="125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• Stratified sample mismatch with Thakur 2025 — ours balanced, theirs natural-proportional</a:t>
            </a:r>
          </a:p>
          <a:p>
            <a:pPr>
              <a:lnSpc>
                <a:spcPct val="125000"/>
              </a:lnSpc>
            </a:pPr>
            <a:r>
              <a:rPr sz="1600" b="1">
                <a:solidFill>
                  <a:srgbClr val="1A1A1A"/>
                </a:solidFill>
                <a:latin typeface="Calibri"/>
              </a:rPr>
              <a:t>• Gemini coverage failures (17-24% on TREC RAG 2024) — selection bias on the small valid subset</a:t>
            </a:r>
          </a:p>
          <a:p>
            <a:pPr>
              <a:lnSpc>
                <a:spcPct val="125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• DSV4 Flash dropped — OpenRouter free-tier 429 throttling; we have 1 DeepSeek judge, no within-DS pair</a:t>
            </a:r>
          </a:p>
          <a:p>
            <a:pPr>
              <a:lnSpc>
                <a:spcPct val="125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• Missing-data accounting — None=0 in aggregates; valid-only means re-cluster Gemini judges as strict-mid</a:t>
            </a:r>
          </a:p>
          <a:p>
            <a:pPr>
              <a:lnSpc>
                <a:spcPct val="125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• Mediation analysis assumes linear additivity — non-linear interactions (provider × reasoning) untested</a:t>
            </a:r>
          </a:p>
          <a:p>
            <a:pPr>
              <a:lnSpc>
                <a:spcPct val="125000"/>
              </a:lnSpc>
            </a:pPr>
            <a:r>
              <a:rPr sz="1600" b="1">
                <a:solidFill>
                  <a:srgbClr val="1A1A1A"/>
                </a:solidFill>
                <a:latin typeface="Calibri"/>
              </a:rPr>
              <a:t>• No within-corpus human-rater study — §7 NIST validation substitutes; reviewers preferring institution-specific human anchor will not find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28/32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Reproducibility — single-command replication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4A86"/>
                </a:solidFill>
                <a:latin typeface="Calibri"/>
              </a:rPr>
              <a:t>Within-corpus replication (~$18, ~5.5 h):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onsolas"/>
              </a:rPr>
              <a:t>py eval_llm_judge.py --collection &lt;yours&gt; --judge-preset p4-frontier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onsolas"/>
              </a:rPr>
              <a:t>py eval_llm_judge.py --collection &lt;yours&gt; --judge-preset p4-supplement-openweight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4A86"/>
                </a:solidFill>
                <a:latin typeface="Calibri"/>
              </a:rPr>
              <a:t>External-validation replication (~$35, ~7.5 h):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onsolas"/>
              </a:rPr>
              <a:t>py validate_against_trec.py --corpus trec-rag-2024 --judge-preset p4-frontier --max-pairs 537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onsolas"/>
              </a:rPr>
              <a:t>py validate_against_trec.py --corpus trec-rag-2024 --judge-preset p4-supplement-openweight --max-pairs 537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onsolas"/>
              </a:rPr>
              <a:t>py validate_against_trec.py --analyze trec-rag-2024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1430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07070"/>
                </a:solidFill>
                <a:latin typeface="Calibri"/>
              </a:rPr>
              <a:t>Model versions pinned 2026-04-25: claude-opus-4-7, claude-sonnet-4-6, gpt-5.5, gpt-4o-2024-08-06, gemini-3.1-pro-preview, gemini-2.5-pro-2025-06-17, deepseek-v4-pro, qwen3.6-plus, gemma-4-26b-a4b-it. Target SIGIR Artifact Badging (Functional / Reusable).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29/32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Open questions for follow-up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700" b="1">
                <a:solidFill>
                  <a:srgbClr val="1A1A1A"/>
                </a:solidFill>
                <a:latin typeface="Calibri"/>
              </a:rPr>
              <a:t>• (1) Cross-organization Qwen ↔ Gemma 4 convergence (κ=0.80) lacks complete mechanistic explanation — shared OSS research community? distillation lineage? compute regime? bounded-output prior?</a:t>
            </a:r>
          </a:p>
          <a:p>
            <a:pPr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(2) κ structure under non-bounded output rubrics (graded relevance with longer scales, free-text rationales) may invert the within-family bounded-ordinal finding (C2)</a:t>
            </a:r>
          </a:p>
          <a:p>
            <a:pPr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(3) Non-linear interactions in §6 mediation analysis (provider × reasoning) untested</a:t>
            </a:r>
          </a:p>
          <a:p>
            <a:pPr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(4) Apples-to-apples replication of Thakur 2025's 537-pair subset pending receipt of their curated sample</a:t>
            </a:r>
          </a:p>
          <a:p>
            <a:pPr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• (5) TREC-COVID and LLMJudge benchmark validations deferred — TOIS journal-version extension</a:t>
            </a:r>
          </a:p>
          <a:p>
            <a:pPr>
              <a:lnSpc>
                <a:spcPct val="130000"/>
              </a:lnSpc>
            </a:pPr>
            <a:r>
              <a:rPr sz="1700" b="1">
                <a:solidFill>
                  <a:srgbClr val="1A1A1A"/>
                </a:solidFill>
                <a:latin typeface="Calibri"/>
              </a:rPr>
              <a:t>• (6) Cross-corpus mean κ on 4+ public benchmarks (vs 1 in current draft) for stronger generalization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30/32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E4A86"/>
                </a:solidFill>
                <a:latin typeface="Calibr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CALIBRATION PHILOSOPHY (lenient vs strict score-allocation pattern), NOT provider lineage, is the axis on which retrieval verdicts shift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Cross-family agreement (κ ≥ 0.75) is high enough that judge interchangeability is a defensible default for reasoning-capable commercial judges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Cross-organization open-weight ensemble (Qwen + Gemma 4) achieves matrix-highest κ at ~1% commercial cost — sovereign-cloud / on-prem deployments are NOT condemned to lower-quality judging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Calibri"/>
              </a:rPr>
              <a:t>• External NIST validation (κ = 0.49 ensemble) confirms moderate-substantial agreement on a public IR benchmark</a:t>
            </a:r>
          </a:p>
          <a:p>
            <a:pPr>
              <a:lnSpc>
                <a:spcPct val="135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• Mechanism: 93% of pairwise κ variance is joint-distribution structure of paired scores — a NEW insight for ensemble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31/32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0" b="1">
                <a:solidFill>
                  <a:srgbClr val="0E4A86"/>
                </a:solidFill>
                <a:latin typeface="Calibri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1A1A1A"/>
                </a:solidFill>
                <a:latin typeface="Calibri"/>
              </a:rPr>
              <a:t>asukul@iastate.edu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707070"/>
                </a:solidFill>
                <a:latin typeface="Calibri"/>
              </a:rPr>
              <a:t>Code + data + paper draft: github.com/asukul/p4-llm-judge (forthcoming)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Calibri"/>
              </a:rPr>
              <a:t>P4 —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07070"/>
                </a:solidFill>
                <a:latin typeface="Calibri"/>
              </a:rPr>
              <a:t>32/32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