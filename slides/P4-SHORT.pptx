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4A86"/>
                </a:solidFill>
                <a:latin typeface="Calibri"/>
              </a:rPr>
              <a:t>Cross-Family LLM-Judge Agreement
for Institutional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707070"/>
                </a:solidFill>
                <a:latin typeface="Calibri"/>
              </a:rPr>
              <a:t>A 5-Family, 9-Judge Ablation with Mechanism + External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Adisak Sukul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707070"/>
                </a:solidFill>
                <a:latin typeface="Calibri"/>
              </a:rPr>
              <a:t>Iowa State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707070"/>
                </a:solidFill>
                <a:latin typeface="Calibri"/>
              </a:rPr>
              <a:t>asukul@iastate.edu  ·  2026-04-28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The which-judge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07070"/>
                </a:solidFill>
                <a:latin typeface="Calibri"/>
              </a:rPr>
              <a:t>RAG over institutional corpora has no gold relevance set; LLM-as-Judge fills the gap — but which judge?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No gold qrels for institutional corpora — TREC-style ground truth needs hundreds of expert hours per topic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Generic IR benchmarks (BEIR, MS-MARCO) don't transfer — web-style queries on web-style corpora</a:t>
            </a:r>
          </a:p>
          <a:p>
            <a:pPr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LLM-as-Judge surfaces a new question: WHICH judge? Sonnet vs GPT-5 vs Gemini vs Qwen vs Gemma?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Prior work compares within ONE provider family, or two-family pairs without ordinal weighting, or excludes open-weight peers entirely</a:t>
            </a:r>
          </a:p>
          <a:p>
            <a:pPr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Open-weight judges are the default for sovereign-cloud and privacy-conservative institutions — excluding them silently endorses commercial-only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Four contribution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07070"/>
                </a:solidFill>
                <a:latin typeface="Calibri"/>
              </a:rPr>
              <a:t>First multi-family pairwise κ matrix with within-family controls AND open-weight as first-class judges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1A1A1A"/>
                </a:solidFill>
                <a:latin typeface="Calibri"/>
              </a:rPr>
              <a:t>• C1: Cross-family reasoning judges converge at κ ≥ 0.75 — well above the 0.4-0.6 typical baselines</a:t>
            </a:r>
          </a:p>
          <a:p>
            <a:pPr>
              <a:lnSpc>
                <a:spcPct val="125000"/>
              </a:lnSpc>
            </a:pPr>
            <a:r>
              <a:rPr sz="1700" b="1">
                <a:solidFill>
                  <a:srgbClr val="1A1A1A"/>
                </a:solidFill>
                <a:latin typeface="Calibri"/>
              </a:rPr>
              <a:t>• C2: Within-family agreement is BOUNDED by the cross-family ceiling (no within-family pair dominates)</a:t>
            </a:r>
          </a:p>
          <a:p>
            <a:pPr>
              <a:lnSpc>
                <a:spcPct val="125000"/>
              </a:lnSpc>
            </a:pPr>
            <a:r>
              <a:rPr sz="1700" b="1">
                <a:solidFill>
                  <a:srgbClr val="1A1A1A"/>
                </a:solidFill>
                <a:latin typeface="Calibri"/>
              </a:rPr>
              <a:t>• C3: Open-weight judges (Qwen × Gemma 4) produce the matrix-highest within-pair κ = 0.80 at ~1% of commercial cost</a:t>
            </a:r>
          </a:p>
          <a:p>
            <a:pPr>
              <a:lnSpc>
                <a:spcPct val="125000"/>
              </a:lnSpc>
            </a:pPr>
            <a:r>
              <a:rPr sz="1700" b="1">
                <a:solidFill>
                  <a:srgbClr val="1A1A1A"/>
                </a:solidFill>
                <a:latin typeface="Calibri"/>
              </a:rPr>
              <a:t>• C4: Open-source toolkit (eval_llm_judge.py, validate_against_trec.py) + community disclosure template</a:t>
            </a:r>
          </a:p>
          <a:p>
            <a:pPr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Plus: §6 mechanistic decomposition (R²=93% from joint distribution; tokenizer hypothesis refuted)</a:t>
            </a:r>
          </a:p>
          <a:p>
            <a:pPr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Plus: §7 external validation against NIST TREC RAG 2024 qrels (ensemble κ = 0.4941 on 537 stratified-balanced pairs)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Judge slate: 9 judges across 5 families, 4 within-family pairs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8503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743200"/>
                <a:gridCol w="2011680"/>
                <a:gridCol w="155448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Reasoning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Claude Opus 4.7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Claude Sonnet 4.6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GPT-5.5 (reasoning=low)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OpenAI direct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GPT-4o (chat)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OpenAI direct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3.1 Pro Preview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Google-commercial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yes (thinking)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2.5 Pro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Google-commercial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yes (thinking)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DeepSeek V4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DeepSeek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Qwen 3.6 Plus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Open-weight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Gemma 4 26B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Open-weight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2120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07070"/>
                </a:solidFill>
                <a:latin typeface="Calibri"/>
              </a:rPr>
              <a:t>Within-family pairs: Anthropic (1↔2), OpenAI (3↔4), Google-commercial (5↔6), Open-weight cross-organization (8↔9). All 9 judges score the same 570 (query, document) pairs from ISU DSpace (97k full-text PDFs) — score variance is purely judge-level. Versions pinned 2026-04-25.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Pipeline: 9-judge ThreadPool fan-out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07070"/>
                </a:solidFill>
                <a:latin typeface="Calibri"/>
              </a:rPr>
              <a:t>eval_llm_judge.py — multi-judge mode, retry on transient errors, JSON output per judge</a:t>
            </a:r>
          </a:p>
        </p:txBody>
      </p:sp>
      <p:pic>
        <p:nvPicPr>
          <p:cNvPr id="4" name="Picture 3" descr="diagram_3_our_multijudge_fan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26177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Per-judge retrieval metrics — same documents, different verdicts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280160"/>
                <a:gridCol w="1097280"/>
                <a:gridCol w="1097280"/>
                <a:gridCol w="9144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P@5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Sonnet 4.6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0.649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1.68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GPT-5.5 (low)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0.846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0.600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0.792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1.63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DSV4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DeepSeek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0.702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0.883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1.63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GPT-4o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0.803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0.361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0.575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Qwen 3.6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Open-weight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0.758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0.379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0.599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Gemma 4 26B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Open-weight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0.753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0.375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0.573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1.11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Opus 4.7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0.749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0.536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Gemini 2.5 Pro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Google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0.624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0.281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0.486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Gemini 3.1 Prev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Google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0.454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0.158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1206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07070"/>
                </a:solidFill>
                <a:latin typeface="Calibri"/>
              </a:rPr>
              <a:t>Same retrieved documents → nDCG@10 between 0.45 and 0.86 — a 1.9× spread driven entirely by judge selection. Two practitioners running identical retrieval code, scoring with different flagship judges, can arrive at OPPOSITE go/no-go decisions. Disclosure template (C4): "nDCG@10 = X.XX via [family]/[model]/[reasoning], N pairs, DATE".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9×9 pairwise κ matrix — every off-diagonal ≥ 0.56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07070"/>
                </a:solidFill>
                <a:latin typeface="Calibri"/>
              </a:rPr>
              <a:t>Quadratic-weighted Cohen's κ on 570 pairs · two clusters · cross-org open-weight = 0.80 (matrix-highest)</a:t>
            </a:r>
          </a:p>
        </p:txBody>
      </p:sp>
      <p:pic>
        <p:nvPicPr>
          <p:cNvPr id="4" name="Picture 3" descr="kappa_matrix_9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5580675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Calibration clusters — calibration philosophy &gt; provider lineage</a:t>
            </a:r>
          </a:p>
        </p:txBody>
      </p:sp>
      <p:pic>
        <p:nvPicPr>
          <p:cNvPr id="3" name="Picture 2" descr="diagram_5_calibration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84574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C1: Cross-family reasoning judges converge at κ ≥ 0.75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Five cross-family pairs reach substantial-or-better κ (Sonnet ↔ GPT-5.5 = 0.79, Qwen ↔ Gemma 4 = 0.80, etc.)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Well above the 0.4-0.6 typical of prior art [Rahmani 2024] and the 0.60 unweighted baseline of [Thakur 2025]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DeepSeek V4 Pro joining the cluster RULES OUT a Western-training-data common-cause explanation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Pattern replicates across three independent ablation scales (5-, 7-, 9-judge) within run-to-run noise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EXTERNAL CORROBORATION: 9-judge ensemble achieves κ = 0.49 against published NIST qrels on TREC RAG 2024 — the convergence is not specific to our institutional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C3: Cross-org open-weight = matrix-highest κ at ~1% of commercial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Qwen 3.6 Plus ↔ Gemma 4 26B = κ 0.80 — exceeds every commercial within-family pair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Both calibrate with strict-mid commercial models (mean 1.11-1.18), NOT with reasoning-generous (1.63-1.68)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Marginal cost ~USD 0.30 (vs ~USD 18 for the commercial 7-judge frontier)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100% coverage on TREC RAG 2024 — better than 4 of 7 frontier judges (Gemini 17-24%, DSV4 40%)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Direct policy implication: sovereign-cloud and privacy-conservative deployments are NOT condemned to lower-quality judging — the cross-org open-weight pair is the recommended low-cost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Mechanism: joint-distribution structure explains R² = 93% of κ variance</a:t>
            </a:r>
          </a:p>
        </p:txBody>
      </p:sp>
      <p:pic>
        <p:nvPicPr>
          <p:cNvPr id="3" name="Picture 2" descr="judge_calibration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7984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07070"/>
                </a:solidFill>
                <a:latin typeface="Calibri"/>
              </a:rPr>
              <a:t>Marginal KL = coarse 33% proxy · joint-distribution dispersion + effective rank = R²=93% · structural factors fully mediated · shared-tokenizer hypothesis REFUTED (Qwen↔Gemma Jaccard=0.066, lowest, yet κ=0.80 highest).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External validation results — TREC RAG 2024 9-judge κ vs NIST qrels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713232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657600"/>
                <a:gridCol w="109728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κ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valid/537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2.5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0.5513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92 (small-n)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Claude Sonnet 4.6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0.5123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Claude Opus 4.7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0.4792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GPT-5.5 (reasoning=low)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0.4789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DeepSeek V4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0.4705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Qwen 3.6 Plus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0.4141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3.1 Pro Preview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0.4092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GPT-4o (chat)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0.4065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Gemma 4 26B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0.3958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9-judge ensemble median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0.4941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7-judge frontier-only median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0.5187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0" y="1280160"/>
            <a:ext cx="3657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Headlines
9-judge ensemble κ = 0.4941
→ moderate, near-substantial
5 of 9 judges hit κ ≥ 0.47
All 9 judges κ &gt; 0.39 — none at chance
Ensemble outperforms 7 of 9 single judges
Adding open-weight broadens coverage,
slightly lowers κ (robustness/headline tradeoff)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Third-corpus replication — TREC-COVID biomedical (300 pairs, 9 judges)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713232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657600"/>
                <a:gridCol w="1645920"/>
                <a:gridCol w="1280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κ vs NIST qrels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valid/300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Claude Opus 4.7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0.5323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Claude Sonnet 4.6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0.4238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GPT-4o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0.3874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GPT-5.5 (reasoning=low)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0.3871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Qwen 3.6 Plus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0.3181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DeepSeek V4 Pro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0.3144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Gemma 4 26B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0.2743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Gemini 3.1 Pro Preview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0.2202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133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Gemini 2.5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n/a (small-n)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9-judge ensemble median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0.3447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(frontier-7 ensemble for ref)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0.4462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0" y="1280160"/>
            <a:ext cx="3657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Three corpora, three κ
• ISU DSpace: within-pair max 0.80
  (no human gold available)
• TREC RAG 2024: 9-judge κ = 0.4941
  (web passages)
• BEIR scifact: precision 65.7%
  (κ undefined — all-positive qrels)
• TREC-COVID: 9-judge κ = 0.3447
  (biomedical scientific)
Open-weight broadens coverage
(Qwen + Gemma both 100%)
but lowers ensemble κ more on
biomedical (-0.10) than on web
(-0.025 on TREC RAG 2024).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Coverage divergence — content-domain reliability axis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9326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94560"/>
                <a:gridCol w="2194560"/>
                <a:gridCol w="21945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TREC RAG 2024 (n=537)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BEIR scifact (n=300)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TREC-COVID (n=300)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GPT-5.5 (reasoning=low)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GPT-4o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Claude Opus 4.7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Claude Sonnet 4.6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99.7%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Qwen 3.6 Plus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Gemma 4 26B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DeepSeek V4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39%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Gemini 3.1 Pro Preview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Gemini 2.5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ALWAYS-WORKS 6-judge subset (≥95% on TREC RAG + BEIR scifact): Anthropic + OpenAI + Qwen + Gemma. The 2 cheapest open-weight judges make this subset. Gemini fails on web/biomedical content more than on scientific abstracts — reliability is content-domain dependent.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CALIBRATION PHILOSOPHY (lenient vs strict score-allocation pattern), NOT provider lineage, is the axis on which retrieval verdicts shift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Cross-family agreement (κ ≥ 0.75) is high enough that judge interchangeability is a defensible default for reasoning-capable commercial judges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Cross-organization open-weight ensemble (Qwen + Gemma 4) achieves matrix-highest κ at ~1% commercial cost — sovereign-cloud / on-prem deployments are NOT condemned to lower-quality judging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External NIST validation (κ = 0.49 ensemble) confirms moderate-substantial agreement on a public IR benchmark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Mechanism: 93% of pairwise κ variance is joint-distribution structure of paired scores — a NEW insight for ensemble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0" b="1">
                <a:solidFill>
                  <a:srgbClr val="0E4A86"/>
                </a:solidFill>
                <a:latin typeface="Calibri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1A1A1A"/>
                </a:solidFill>
                <a:latin typeface="Calibri"/>
              </a:rPr>
              <a:t>asukul@iastate.edu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707070"/>
                </a:solidFill>
                <a:latin typeface="Calibri"/>
              </a:rPr>
              <a:t>Code + data + paper draft: github.com/asukul/RAG-Eval-LLM-Judge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